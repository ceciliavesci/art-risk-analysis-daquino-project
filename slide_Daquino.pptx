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8288000" cy="10287000"/>
  <p:notesSz cx="6858000" cy="9144000"/>
  <p:embeddedFontLst>
    <p:embeddedFont>
      <p:font typeface="Archivo Black" charset="1" panose="020B0A03020202020B04"/>
      <p:regular r:id="rId7"/>
    </p:embeddedFont>
    <p:embeddedFont>
      <p:font typeface="Open Sans" charset="1" panose="020B0606030504020204"/>
      <p:regular r:id="rId8"/>
    </p:embeddedFont>
    <p:embeddedFont>
      <p:font typeface="Poppins" charset="1" panose="00000500000000000000"/>
      <p:regular r:id="rId9"/>
    </p:embeddedFont>
    <p:embeddedFont>
      <p:font typeface="Poppins Bold" charset="1" panose="0000080000000000000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0053" y="160908"/>
            <a:ext cx="17808794" cy="1009650"/>
          </a:xfrm>
          <a:prstGeom prst="rect">
            <a:avLst/>
          </a:prstGeom>
        </p:spPr>
        <p:txBody>
          <a:bodyPr anchor="t" rtlCol="false" tIns="0" lIns="0" bIns="0" rIns="0">
            <a:spAutoFit/>
          </a:bodyPr>
          <a:lstStyle/>
          <a:p>
            <a:pPr algn="l">
              <a:lnSpc>
                <a:spcPts val="3907"/>
              </a:lnSpc>
            </a:pPr>
            <a:r>
              <a:rPr lang="en-US" sz="3256">
                <a:solidFill>
                  <a:srgbClr val="000000"/>
                </a:solidFill>
                <a:latin typeface="Archivo Black"/>
                <a:ea typeface="Archivo Black"/>
                <a:cs typeface="Archivo Black"/>
                <a:sym typeface="Archivo Black"/>
              </a:rPr>
              <a:t>Artresearch:</a:t>
            </a:r>
          </a:p>
          <a:p>
            <a:pPr algn="l">
              <a:lnSpc>
                <a:spcPts val="3907"/>
              </a:lnSpc>
            </a:pPr>
            <a:r>
              <a:rPr lang="en-US" sz="3256">
                <a:solidFill>
                  <a:srgbClr val="000000"/>
                </a:solidFill>
                <a:latin typeface="Archivo Black"/>
                <a:ea typeface="Archivo Black"/>
                <a:cs typeface="Archivo Black"/>
                <a:sym typeface="Archivo Black"/>
              </a:rPr>
              <a:t>Environmental Risk vs. the Digitization of Archaeological Sites</a:t>
            </a:r>
          </a:p>
        </p:txBody>
      </p:sp>
      <p:grpSp>
        <p:nvGrpSpPr>
          <p:cNvPr name="Group 3" id="3"/>
          <p:cNvGrpSpPr/>
          <p:nvPr/>
        </p:nvGrpSpPr>
        <p:grpSpPr>
          <a:xfrm rot="0">
            <a:off x="6922315" y="2434670"/>
            <a:ext cx="11225096" cy="6974442"/>
            <a:chOff x="0" y="0"/>
            <a:chExt cx="14966795" cy="9299257"/>
          </a:xfrm>
        </p:grpSpPr>
        <p:pic>
          <p:nvPicPr>
            <p:cNvPr name="Picture 4" id="4"/>
            <p:cNvPicPr>
              <a:picLocks noChangeAspect="true"/>
            </p:cNvPicPr>
            <p:nvPr/>
          </p:nvPicPr>
          <p:blipFill>
            <a:blip r:embed="rId2"/>
            <a:stretch>
              <a:fillRect/>
            </a:stretch>
          </p:blipFill>
          <p:spPr>
            <a:xfrm rot="0">
              <a:off x="6427408" y="-929926"/>
              <a:ext cx="9469312" cy="11159108"/>
            </a:xfrm>
            <a:prstGeom prst="rect">
              <a:avLst/>
            </a:prstGeom>
          </p:spPr>
        </p:pic>
        <p:pic>
          <p:nvPicPr>
            <p:cNvPr name="Picture 5" id="5"/>
            <p:cNvPicPr>
              <a:picLocks noChangeAspect="true"/>
            </p:cNvPicPr>
            <p:nvPr/>
          </p:nvPicPr>
          <p:blipFill>
            <a:blip r:embed="rId3"/>
            <a:stretch>
              <a:fillRect/>
            </a:stretch>
          </p:blipFill>
          <p:spPr>
            <a:xfrm rot="0">
              <a:off x="-929926" y="-929926"/>
              <a:ext cx="9453170" cy="11159108"/>
            </a:xfrm>
            <a:prstGeom prst="rect">
              <a:avLst/>
            </a:prstGeom>
          </p:spPr>
        </p:pic>
      </p:gr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a:t>
            </a:r>
          </a:p>
        </p:txBody>
      </p:sp>
      <p:grpSp>
        <p:nvGrpSpPr>
          <p:cNvPr name="Group 7" id="7"/>
          <p:cNvGrpSpPr/>
          <p:nvPr/>
        </p:nvGrpSpPr>
        <p:grpSpPr>
          <a:xfrm rot="0">
            <a:off x="220053" y="1959587"/>
            <a:ext cx="6238373" cy="3362050"/>
            <a:chOff x="0" y="0"/>
            <a:chExt cx="8317831" cy="4482733"/>
          </a:xfrm>
        </p:grpSpPr>
        <p:sp>
          <p:nvSpPr>
            <p:cNvPr name="TextBox 8" id="8"/>
            <p:cNvSpPr txBox="true"/>
            <p:nvPr/>
          </p:nvSpPr>
          <p:spPr>
            <a:xfrm rot="0">
              <a:off x="0" y="754514"/>
              <a:ext cx="8317831" cy="3219450"/>
            </a:xfrm>
            <a:prstGeom prst="rect">
              <a:avLst/>
            </a:prstGeom>
          </p:spPr>
          <p:txBody>
            <a:bodyPr anchor="t" rtlCol="false" tIns="0" lIns="0" bIns="0" rIns="0">
              <a:spAutoFit/>
            </a:bodyPr>
            <a:lstStyle/>
            <a:p>
              <a:pPr algn="l">
                <a:lnSpc>
                  <a:spcPts val="2148"/>
                </a:lnSpc>
                <a:spcBef>
                  <a:spcPct val="0"/>
                </a:spcBef>
              </a:pPr>
              <a:r>
                <a:rPr lang="en-US" sz="1790">
                  <a:solidFill>
                    <a:srgbClr val="000000"/>
                  </a:solidFill>
                  <a:latin typeface="Poppins"/>
                  <a:ea typeface="Poppins"/>
                  <a:cs typeface="Poppins"/>
                  <a:sym typeface="Poppins"/>
                </a:rPr>
                <a:t>The graph reveals a complete lack of correlation between a territory’s level of risk and the digitization of sites. The trend appears unrelated to environmental priorities: the peak in documentation for </a:t>
              </a:r>
              <a:r>
                <a:rPr lang="en-US" sz="1790">
                  <a:solidFill>
                    <a:srgbClr val="4A7FF7"/>
                  </a:solidFill>
                  <a:latin typeface="Poppins"/>
                  <a:ea typeface="Poppins"/>
                  <a:cs typeface="Poppins"/>
                  <a:sym typeface="Poppins"/>
                </a:rPr>
                <a:t>flood risk</a:t>
              </a:r>
              <a:r>
                <a:rPr lang="en-US" sz="1790">
                  <a:solidFill>
                    <a:srgbClr val="000000"/>
                  </a:solidFill>
                  <a:latin typeface="Poppins"/>
                  <a:ea typeface="Poppins"/>
                  <a:cs typeface="Poppins"/>
                  <a:sym typeface="Poppins"/>
                </a:rPr>
                <a:t> is found at sites with a “Low” risk (9%), while for </a:t>
              </a:r>
              <a:r>
                <a:rPr lang="en-US" sz="1790">
                  <a:solidFill>
                    <a:srgbClr val="FF6C6C"/>
                  </a:solidFill>
                  <a:latin typeface="Poppins"/>
                  <a:ea typeface="Poppins"/>
                  <a:cs typeface="Poppins"/>
                  <a:sym typeface="Poppins"/>
                </a:rPr>
                <a:t>earthquake risk</a:t>
              </a:r>
              <a:r>
                <a:rPr lang="en-US" sz="1790">
                  <a:solidFill>
                    <a:srgbClr val="000000"/>
                  </a:solidFill>
                  <a:latin typeface="Poppins"/>
                  <a:ea typeface="Poppins"/>
                  <a:cs typeface="Poppins"/>
                  <a:sym typeface="Poppins"/>
                </a:rPr>
                <a:t>, it is found at sites with a “Medium” risk (14.4%). The data on high-risk sites is concerning, as coverage remains at a critically low 5% in both scenarios.</a:t>
              </a:r>
            </a:p>
          </p:txBody>
        </p:sp>
        <p:sp>
          <p:nvSpPr>
            <p:cNvPr name="TextBox 9" id="9"/>
            <p:cNvSpPr txBox="true"/>
            <p:nvPr/>
          </p:nvSpPr>
          <p:spPr>
            <a:xfrm rot="0">
              <a:off x="0" y="-9525"/>
              <a:ext cx="3991854" cy="454025"/>
            </a:xfrm>
            <a:prstGeom prst="rect">
              <a:avLst/>
            </a:prstGeom>
          </p:spPr>
          <p:txBody>
            <a:bodyPr anchor="t" rtlCol="false" tIns="0" lIns="0" bIns="0" rIns="0">
              <a:spAutoFit/>
            </a:bodyPr>
            <a:lstStyle/>
            <a:p>
              <a:pPr algn="l">
                <a:lnSpc>
                  <a:spcPts val="2686"/>
                </a:lnSpc>
                <a:spcBef>
                  <a:spcPct val="0"/>
                </a:spcBef>
              </a:pPr>
              <a:r>
                <a:rPr lang="en-US" sz="2238">
                  <a:solidFill>
                    <a:srgbClr val="000000"/>
                  </a:solidFill>
                  <a:latin typeface="Archivo Black"/>
                  <a:ea typeface="Archivo Black"/>
                  <a:cs typeface="Archivo Black"/>
                  <a:sym typeface="Archivo Black"/>
                </a:rPr>
                <a:t>Data Analysis:</a:t>
              </a:r>
            </a:p>
          </p:txBody>
        </p:sp>
        <p:sp>
          <p:nvSpPr>
            <p:cNvPr name="TextBox 10" id="10"/>
            <p:cNvSpPr txBox="true"/>
            <p:nvPr/>
          </p:nvSpPr>
          <p:spPr>
            <a:xfrm rot="0">
              <a:off x="0" y="4108083"/>
              <a:ext cx="8317831" cy="374650"/>
            </a:xfrm>
            <a:prstGeom prst="rect">
              <a:avLst/>
            </a:prstGeom>
          </p:spPr>
          <p:txBody>
            <a:bodyPr anchor="t" rtlCol="false" tIns="0" lIns="0" bIns="0" rIns="0">
              <a:spAutoFit/>
            </a:bodyPr>
            <a:lstStyle/>
            <a:p>
              <a:pPr algn="l">
                <a:lnSpc>
                  <a:spcPts val="2148"/>
                </a:lnSpc>
                <a:spcBef>
                  <a:spcPct val="0"/>
                </a:spcBef>
              </a:pPr>
            </a:p>
          </p:txBody>
        </p:sp>
      </p:grpSp>
      <p:grpSp>
        <p:nvGrpSpPr>
          <p:cNvPr name="Group 11" id="11"/>
          <p:cNvGrpSpPr/>
          <p:nvPr/>
        </p:nvGrpSpPr>
        <p:grpSpPr>
          <a:xfrm rot="0">
            <a:off x="220053" y="5143500"/>
            <a:ext cx="6238373" cy="4690812"/>
            <a:chOff x="0" y="0"/>
            <a:chExt cx="8317831" cy="6254415"/>
          </a:xfrm>
        </p:grpSpPr>
        <p:sp>
          <p:nvSpPr>
            <p:cNvPr name="TextBox 12" id="12"/>
            <p:cNvSpPr txBox="true"/>
            <p:nvPr/>
          </p:nvSpPr>
          <p:spPr>
            <a:xfrm rot="0">
              <a:off x="0" y="730238"/>
              <a:ext cx="8317831" cy="4641850"/>
            </a:xfrm>
            <a:prstGeom prst="rect">
              <a:avLst/>
            </a:prstGeom>
          </p:spPr>
          <p:txBody>
            <a:bodyPr anchor="t" rtlCol="false" tIns="0" lIns="0" bIns="0" rIns="0">
              <a:spAutoFit/>
            </a:bodyPr>
            <a:lstStyle/>
            <a:p>
              <a:pPr algn="l">
                <a:lnSpc>
                  <a:spcPts val="2148"/>
                </a:lnSpc>
                <a:spcBef>
                  <a:spcPct val="0"/>
                </a:spcBef>
              </a:pPr>
              <a:r>
                <a:rPr lang="en-US" sz="1790">
                  <a:solidFill>
                    <a:srgbClr val="000000"/>
                  </a:solidFill>
                  <a:latin typeface="Poppins"/>
                  <a:ea typeface="Poppins"/>
                  <a:cs typeface="Poppins"/>
                  <a:sym typeface="Poppins"/>
                </a:rPr>
                <a:t>The analysis indicates that preventive conservation does not drive digitization processes (which are likely driven by considerations of tourist appeal). However, a structural limitation inherent in the digital cultural heritage ecosystem emerges: the absence of a shared unique identifier (URI) between Wikidata and ArtResearch, combined with inconsistencies in the tagging of site names, fragments the data. The exact matching method applied inevitably resulted in false negatives (actual sites not found), demonstrating how the lack of interoperable semantic standards hinders the monitoring and protection of the historical memory of endangered heritage. </a:t>
              </a:r>
            </a:p>
          </p:txBody>
        </p:sp>
        <p:sp>
          <p:nvSpPr>
            <p:cNvPr name="TextBox 13" id="13"/>
            <p:cNvSpPr txBox="true"/>
            <p:nvPr/>
          </p:nvSpPr>
          <p:spPr>
            <a:xfrm rot="0">
              <a:off x="0" y="-19050"/>
              <a:ext cx="8317831" cy="463241"/>
            </a:xfrm>
            <a:prstGeom prst="rect">
              <a:avLst/>
            </a:prstGeom>
          </p:spPr>
          <p:txBody>
            <a:bodyPr anchor="t" rtlCol="false" tIns="0" lIns="0" bIns="0" rIns="0">
              <a:spAutoFit/>
            </a:bodyPr>
            <a:lstStyle/>
            <a:p>
              <a:pPr algn="just">
                <a:lnSpc>
                  <a:spcPts val="2686"/>
                </a:lnSpc>
                <a:spcBef>
                  <a:spcPct val="0"/>
                </a:spcBef>
              </a:pPr>
              <a:r>
                <a:rPr lang="en-US" b="true" sz="2238">
                  <a:solidFill>
                    <a:srgbClr val="000000"/>
                  </a:solidFill>
                  <a:latin typeface="Poppins Bold"/>
                  <a:ea typeface="Poppins Bold"/>
                  <a:cs typeface="Poppins Bold"/>
                  <a:sym typeface="Poppins Bold"/>
                </a:rPr>
                <a:t>Interpretation and Critical Conclusion:</a:t>
              </a:r>
            </a:p>
          </p:txBody>
        </p:sp>
        <p:sp>
          <p:nvSpPr>
            <p:cNvPr name="TextBox 14" id="14"/>
            <p:cNvSpPr txBox="true"/>
            <p:nvPr/>
          </p:nvSpPr>
          <p:spPr>
            <a:xfrm rot="0">
              <a:off x="0" y="5902126"/>
              <a:ext cx="8317831" cy="352289"/>
            </a:xfrm>
            <a:prstGeom prst="rect">
              <a:avLst/>
            </a:prstGeom>
          </p:spPr>
          <p:txBody>
            <a:bodyPr anchor="t" rtlCol="false" tIns="0" lIns="0" bIns="0" rIns="0">
              <a:spAutoFit/>
            </a:bodyPr>
            <a:lstStyle/>
            <a:p>
              <a:pPr algn="just">
                <a:lnSpc>
                  <a:spcPts val="2148"/>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DAHQGbrFe04</dc:identifier>
  <dcterms:modified xsi:type="dcterms:W3CDTF">2011-08-01T06:04:30Z</dcterms:modified>
  <cp:revision>1</cp:revision>
  <dc:title>slide_Daquino</dc:title>
</cp:coreProperties>
</file>